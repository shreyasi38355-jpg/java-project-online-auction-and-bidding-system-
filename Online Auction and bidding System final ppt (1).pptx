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1" r:id="rId4"/>
    <p:sldId id="258" r:id="rId5"/>
    <p:sldId id="259" r:id="rId6"/>
    <p:sldId id="260" r:id="rId7"/>
    <p:sldId id="263" r:id="rId8"/>
    <p:sldId id="264" r:id="rId9"/>
    <p:sldId id="265" r:id="rId10"/>
    <p:sldId id="266"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AE253BA-9B64-472C-B5BD-C07DABD02E2C}">
          <p14:sldIdLst>
            <p14:sldId id="256"/>
            <p14:sldId id="257"/>
            <p14:sldId id="261"/>
            <p14:sldId id="258"/>
            <p14:sldId id="259"/>
            <p14:sldId id="260"/>
            <p14:sldId id="263"/>
            <p14:sldId id="264"/>
            <p14:sldId id="265"/>
            <p14:sldId id="266"/>
            <p14:sldId id="267"/>
          </p14:sldIdLst>
        </p14:section>
        <p14:section name="Untitled Section" id="{7AB74579-A252-4DF5-B59F-2D486CD14DAB}">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14" y="16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si Penujuri" userId="672e9f9cb022ed4f" providerId="LiveId" clId="{ACD73240-A62F-4B91-98E4-3A4002B4A3AA}"/>
    <pc:docChg chg="custSel modSld">
      <pc:chgData name="Shreyasi Penujuri" userId="672e9f9cb022ed4f" providerId="LiveId" clId="{ACD73240-A62F-4B91-98E4-3A4002B4A3AA}" dt="2026-10-14T04:07:34.244" v="14" actId="478"/>
      <pc:docMkLst>
        <pc:docMk/>
      </pc:docMkLst>
      <pc:sldChg chg="addSp delSp modSp mod">
        <pc:chgData name="Shreyasi Penujuri" userId="672e9f9cb022ed4f" providerId="LiveId" clId="{ACD73240-A62F-4B91-98E4-3A4002B4A3AA}" dt="2026-10-14T04:07:34.244" v="14" actId="478"/>
        <pc:sldMkLst>
          <pc:docMk/>
          <pc:sldMk cId="1396777043" sldId="262"/>
        </pc:sldMkLst>
        <pc:spChg chg="del mod">
          <ac:chgData name="Shreyasi Penujuri" userId="672e9f9cb022ed4f" providerId="LiveId" clId="{ACD73240-A62F-4B91-98E4-3A4002B4A3AA}" dt="2026-10-14T04:07:34.244" v="14" actId="478"/>
          <ac:spMkLst>
            <pc:docMk/>
            <pc:sldMk cId="1396777043" sldId="262"/>
            <ac:spMk id="4" creationId="{48D4BAD5-7EFF-4B1E-4929-B42B4691DD0D}"/>
          </ac:spMkLst>
        </pc:spChg>
        <pc:picChg chg="add mod">
          <ac:chgData name="Shreyasi Penujuri" userId="672e9f9cb022ed4f" providerId="LiveId" clId="{ACD73240-A62F-4B91-98E4-3A4002B4A3AA}" dt="2026-10-14T04:07:25.640" v="12" actId="1076"/>
          <ac:picMkLst>
            <pc:docMk/>
            <pc:sldMk cId="1396777043" sldId="262"/>
            <ac:picMk id="7" creationId="{42DA9C01-5197-6872-029E-4263CB3DA60F}"/>
          </ac:picMkLst>
        </pc:picChg>
      </pc:sldChg>
      <pc:sldChg chg="delSp mod">
        <pc:chgData name="Shreyasi Penujuri" userId="672e9f9cb022ed4f" providerId="LiveId" clId="{ACD73240-A62F-4B91-98E4-3A4002B4A3AA}" dt="2026-10-14T04:06:33.287" v="5" actId="478"/>
        <pc:sldMkLst>
          <pc:docMk/>
          <pc:sldMk cId="0" sldId="263"/>
        </pc:sldMkLst>
        <pc:spChg chg="del">
          <ac:chgData name="Shreyasi Penujuri" userId="672e9f9cb022ed4f" providerId="LiveId" clId="{ACD73240-A62F-4B91-98E4-3A4002B4A3AA}" dt="2026-10-14T04:06:25.098" v="3" actId="478"/>
          <ac:spMkLst>
            <pc:docMk/>
            <pc:sldMk cId="0" sldId="263"/>
            <ac:spMk id="3" creationId="{AE8ACD64-BF58-761A-504E-C381351EE857}"/>
          </ac:spMkLst>
        </pc:spChg>
        <pc:spChg chg="del">
          <ac:chgData name="Shreyasi Penujuri" userId="672e9f9cb022ed4f" providerId="LiveId" clId="{ACD73240-A62F-4B91-98E4-3A4002B4A3AA}" dt="2026-10-14T04:06:30.581" v="4" actId="478"/>
          <ac:spMkLst>
            <pc:docMk/>
            <pc:sldMk cId="0" sldId="263"/>
            <ac:spMk id="4" creationId="{8E0078FF-2013-E475-6F3D-0A16F8585865}"/>
          </ac:spMkLst>
        </pc:spChg>
        <pc:spChg chg="del">
          <ac:chgData name="Shreyasi Penujuri" userId="672e9f9cb022ed4f" providerId="LiveId" clId="{ACD73240-A62F-4B91-98E4-3A4002B4A3AA}" dt="2026-10-14T04:06:33.287" v="5" actId="478"/>
          <ac:spMkLst>
            <pc:docMk/>
            <pc:sldMk cId="0" sldId="263"/>
            <ac:spMk id="5" creationId="{95DE39BA-552D-5E87-9C16-8B5724296666}"/>
          </ac:spMkLst>
        </pc:spChg>
      </pc:sldChg>
      <pc:sldChg chg="delSp mod">
        <pc:chgData name="Shreyasi Penujuri" userId="672e9f9cb022ed4f" providerId="LiveId" clId="{ACD73240-A62F-4B91-98E4-3A4002B4A3AA}" dt="2026-10-14T04:06:19.607" v="2" actId="478"/>
        <pc:sldMkLst>
          <pc:docMk/>
          <pc:sldMk cId="0" sldId="264"/>
        </pc:sldMkLst>
        <pc:spChg chg="del">
          <ac:chgData name="Shreyasi Penujuri" userId="672e9f9cb022ed4f" providerId="LiveId" clId="{ACD73240-A62F-4B91-98E4-3A4002B4A3AA}" dt="2026-10-14T04:06:13.275" v="0" actId="478"/>
          <ac:spMkLst>
            <pc:docMk/>
            <pc:sldMk cId="0" sldId="264"/>
            <ac:spMk id="3" creationId="{AE8ACD64-BF58-761A-504E-C381351EE857}"/>
          </ac:spMkLst>
        </pc:spChg>
        <pc:spChg chg="del">
          <ac:chgData name="Shreyasi Penujuri" userId="672e9f9cb022ed4f" providerId="LiveId" clId="{ACD73240-A62F-4B91-98E4-3A4002B4A3AA}" dt="2026-10-14T04:06:16.868" v="1" actId="478"/>
          <ac:spMkLst>
            <pc:docMk/>
            <pc:sldMk cId="0" sldId="264"/>
            <ac:spMk id="4" creationId="{8E0078FF-2013-E475-6F3D-0A16F8585865}"/>
          </ac:spMkLst>
        </pc:spChg>
        <pc:spChg chg="del">
          <ac:chgData name="Shreyasi Penujuri" userId="672e9f9cb022ed4f" providerId="LiveId" clId="{ACD73240-A62F-4B91-98E4-3A4002B4A3AA}" dt="2026-10-14T04:06:19.607" v="2" actId="478"/>
          <ac:spMkLst>
            <pc:docMk/>
            <pc:sldMk cId="0" sldId="264"/>
            <ac:spMk id="5" creationId="{95DE39BA-552D-5E87-9C16-8B5724296666}"/>
          </ac:spMkLst>
        </pc:spChg>
      </pc:sldChg>
      <pc:sldChg chg="delSp modSp mod">
        <pc:chgData name="Shreyasi Penujuri" userId="672e9f9cb022ed4f" providerId="LiveId" clId="{ACD73240-A62F-4B91-98E4-3A4002B4A3AA}" dt="2026-10-14T04:06:45.873" v="9" actId="478"/>
        <pc:sldMkLst>
          <pc:docMk/>
          <pc:sldMk cId="0" sldId="265"/>
        </pc:sldMkLst>
        <pc:spChg chg="del">
          <ac:chgData name="Shreyasi Penujuri" userId="672e9f9cb022ed4f" providerId="LiveId" clId="{ACD73240-A62F-4B91-98E4-3A4002B4A3AA}" dt="2026-10-14T04:06:39.952" v="6" actId="478"/>
          <ac:spMkLst>
            <pc:docMk/>
            <pc:sldMk cId="0" sldId="265"/>
            <ac:spMk id="3" creationId="{AE8ACD64-BF58-761A-504E-C381351EE857}"/>
          </ac:spMkLst>
        </pc:spChg>
        <pc:spChg chg="del mod">
          <ac:chgData name="Shreyasi Penujuri" userId="672e9f9cb022ed4f" providerId="LiveId" clId="{ACD73240-A62F-4B91-98E4-3A4002B4A3AA}" dt="2026-10-14T04:06:43.200" v="8" actId="478"/>
          <ac:spMkLst>
            <pc:docMk/>
            <pc:sldMk cId="0" sldId="265"/>
            <ac:spMk id="4" creationId="{8E0078FF-2013-E475-6F3D-0A16F8585865}"/>
          </ac:spMkLst>
        </pc:spChg>
        <pc:spChg chg="del">
          <ac:chgData name="Shreyasi Penujuri" userId="672e9f9cb022ed4f" providerId="LiveId" clId="{ACD73240-A62F-4B91-98E4-3A4002B4A3AA}" dt="2026-10-14T04:06:45.873" v="9" actId="478"/>
          <ac:spMkLst>
            <pc:docMk/>
            <pc:sldMk cId="0" sldId="265"/>
            <ac:spMk id="5" creationId="{95DE39BA-552D-5E87-9C16-8B5724296666}"/>
          </ac:spMkLst>
        </pc:spChg>
      </pc:sldChg>
    </pc:docChg>
  </pc:docChgLst>
  <pc:docChgLst>
    <pc:chgData name="TSP MADHURI" userId="d5baabbced009fe2" providerId="LiveId" clId="{5C1935DC-7BAA-4BFD-8AE9-FAF66D151093}"/>
    <pc:docChg chg="undo custSel addSld modSld sldOrd">
      <pc:chgData name="TSP MADHURI" userId="d5baabbced009fe2" providerId="LiveId" clId="{5C1935DC-7BAA-4BFD-8AE9-FAF66D151093}" dt="2026-09-15T10:01:58.231" v="188" actId="22"/>
      <pc:docMkLst>
        <pc:docMk/>
      </pc:docMkLst>
      <pc:sldChg chg="addSp delSp modSp mod">
        <pc:chgData name="TSP MADHURI" userId="d5baabbced009fe2" providerId="LiveId" clId="{5C1935DC-7BAA-4BFD-8AE9-FAF66D151093}" dt="2026-09-15T10:01:58.231" v="188" actId="22"/>
        <pc:sldMkLst>
          <pc:docMk/>
          <pc:sldMk cId="1570750093" sldId="256"/>
        </pc:sldMkLst>
        <pc:spChg chg="mod">
          <ac:chgData name="TSP MADHURI" userId="d5baabbced009fe2" providerId="LiveId" clId="{5C1935DC-7BAA-4BFD-8AE9-FAF66D151093}" dt="2026-09-15T09:58:58.254" v="62" actId="20577"/>
          <ac:spMkLst>
            <pc:docMk/>
            <pc:sldMk cId="1570750093" sldId="256"/>
            <ac:spMk id="2" creationId="{81C0CCFF-527E-4AC9-A45F-A8196F49E0C3}"/>
          </ac:spMkLst>
        </pc:spChg>
        <pc:spChg chg="mod">
          <ac:chgData name="TSP MADHURI" userId="d5baabbced009fe2" providerId="LiveId" clId="{5C1935DC-7BAA-4BFD-8AE9-FAF66D151093}" dt="2026-09-15T09:59:08.667" v="65"/>
          <ac:spMkLst>
            <pc:docMk/>
            <pc:sldMk cId="1570750093" sldId="256"/>
            <ac:spMk id="3" creationId="{A452AC95-AA7D-A76A-037F-6B2DB5A27E48}"/>
          </ac:spMkLst>
        </pc:spChg>
      </pc:sldChg>
      <pc:sldChg chg="modSp new mod">
        <pc:chgData name="TSP MADHURI" userId="d5baabbced009fe2" providerId="LiveId" clId="{5C1935DC-7BAA-4BFD-8AE9-FAF66D151093}" dt="2026-09-15T09:59:16.247" v="74" actId="20577"/>
        <pc:sldMkLst>
          <pc:docMk/>
          <pc:sldMk cId="676338040" sldId="257"/>
        </pc:sldMkLst>
        <pc:spChg chg="mod">
          <ac:chgData name="TSP MADHURI" userId="d5baabbced009fe2" providerId="LiveId" clId="{5C1935DC-7BAA-4BFD-8AE9-FAF66D151093}" dt="2026-09-15T09:59:16.247" v="74" actId="20577"/>
          <ac:spMkLst>
            <pc:docMk/>
            <pc:sldMk cId="676338040" sldId="257"/>
            <ac:spMk id="2" creationId="{EDE71AF3-F02C-0F4C-0929-57F8B753540D}"/>
          </ac:spMkLst>
        </pc:spChg>
      </pc:sldChg>
      <pc:sldChg chg="modSp new mod">
        <pc:chgData name="TSP MADHURI" userId="d5baabbced009fe2" providerId="LiveId" clId="{5C1935DC-7BAA-4BFD-8AE9-FAF66D151093}" dt="2026-09-15T09:59:25.529" v="86" actId="20577"/>
        <pc:sldMkLst>
          <pc:docMk/>
          <pc:sldMk cId="4104242747" sldId="258"/>
        </pc:sldMkLst>
        <pc:spChg chg="mod">
          <ac:chgData name="TSP MADHURI" userId="d5baabbced009fe2" providerId="LiveId" clId="{5C1935DC-7BAA-4BFD-8AE9-FAF66D151093}" dt="2026-09-15T09:59:25.529" v="86" actId="20577"/>
          <ac:spMkLst>
            <pc:docMk/>
            <pc:sldMk cId="4104242747" sldId="258"/>
            <ac:spMk id="2" creationId="{8E154CC5-4FD5-611A-4481-E878E281E2CD}"/>
          </ac:spMkLst>
        </pc:spChg>
      </pc:sldChg>
      <pc:sldChg chg="modSp new mod">
        <pc:chgData name="TSP MADHURI" userId="d5baabbced009fe2" providerId="LiveId" clId="{5C1935DC-7BAA-4BFD-8AE9-FAF66D151093}" dt="2026-09-15T09:59:36.234" v="101" actId="20577"/>
        <pc:sldMkLst>
          <pc:docMk/>
          <pc:sldMk cId="4178111765" sldId="259"/>
        </pc:sldMkLst>
        <pc:spChg chg="mod">
          <ac:chgData name="TSP MADHURI" userId="d5baabbced009fe2" providerId="LiveId" clId="{5C1935DC-7BAA-4BFD-8AE9-FAF66D151093}" dt="2026-09-15T09:59:36.234" v="101" actId="20577"/>
          <ac:spMkLst>
            <pc:docMk/>
            <pc:sldMk cId="4178111765" sldId="259"/>
            <ac:spMk id="2" creationId="{3954FDF4-A21D-11D6-CA7A-382058E2F499}"/>
          </ac:spMkLst>
        </pc:spChg>
      </pc:sldChg>
      <pc:sldChg chg="modSp new mod">
        <pc:chgData name="TSP MADHURI" userId="d5baabbced009fe2" providerId="LiveId" clId="{5C1935DC-7BAA-4BFD-8AE9-FAF66D151093}" dt="2026-09-15T09:59:46.562" v="113" actId="20577"/>
        <pc:sldMkLst>
          <pc:docMk/>
          <pc:sldMk cId="1869875426" sldId="260"/>
        </pc:sldMkLst>
        <pc:spChg chg="mod">
          <ac:chgData name="TSP MADHURI" userId="d5baabbced009fe2" providerId="LiveId" clId="{5C1935DC-7BAA-4BFD-8AE9-FAF66D151093}" dt="2026-09-15T09:59:46.562" v="113" actId="20577"/>
          <ac:spMkLst>
            <pc:docMk/>
            <pc:sldMk cId="1869875426" sldId="260"/>
            <ac:spMk id="2" creationId="{C73BDDFB-DFEC-7A21-D889-17965A225820}"/>
          </ac:spMkLst>
        </pc:spChg>
      </pc:sldChg>
      <pc:sldChg chg="modSp new mod ord">
        <pc:chgData name="TSP MADHURI" userId="d5baabbced009fe2" providerId="LiveId" clId="{5C1935DC-7BAA-4BFD-8AE9-FAF66D151093}" dt="2026-09-15T10:00:14.865" v="149"/>
        <pc:sldMkLst>
          <pc:docMk/>
          <pc:sldMk cId="3980090555" sldId="261"/>
        </pc:sldMkLst>
        <pc:spChg chg="mod">
          <ac:chgData name="TSP MADHURI" userId="d5baabbced009fe2" providerId="LiveId" clId="{5C1935DC-7BAA-4BFD-8AE9-FAF66D151093}" dt="2026-09-15T10:00:08.859" v="147" actId="20577"/>
          <ac:spMkLst>
            <pc:docMk/>
            <pc:sldMk cId="3980090555" sldId="261"/>
            <ac:spMk id="2" creationId="{54D4AC2B-1702-695F-E0B5-9F6550F04B7D}"/>
          </ac:spMkLst>
        </pc:spChg>
      </pc:sldChg>
      <pc:sldChg chg="modSp new mod">
        <pc:chgData name="TSP MADHURI" userId="d5baabbced009fe2" providerId="LiveId" clId="{5C1935DC-7BAA-4BFD-8AE9-FAF66D151093}" dt="2026-09-15T10:00:56.631" v="184" actId="20577"/>
        <pc:sldMkLst>
          <pc:docMk/>
          <pc:sldMk cId="1396777043" sldId="262"/>
        </pc:sldMkLst>
        <pc:spChg chg="mod">
          <ac:chgData name="TSP MADHURI" userId="d5baabbced009fe2" providerId="LiveId" clId="{5C1935DC-7BAA-4BFD-8AE9-FAF66D151093}" dt="2026-09-15T10:00:56.631" v="184" actId="20577"/>
          <ac:spMkLst>
            <pc:docMk/>
            <pc:sldMk cId="1396777043" sldId="262"/>
            <ac:spMk id="2" creationId="{BDCEF2EB-DC8E-A39F-8C45-4CB8185479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16-10-2026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16-10-2026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16-10-2026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16-10-2026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16-10-2026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16-10-2026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16-10-2026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16-10-2026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16-10-2026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16-10-2026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16-10-2026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harshinimharshinim387-boop" TargetMode="External"/><Relationship Id="rId2" Type="http://schemas.openxmlformats.org/officeDocument/2006/relationships/hyperlink" Target="https://github.com/shreyasi38355-jpg" TargetMode="Externa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hyperlink" Target="https://github.com/nehalinga-200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a:xfrm>
            <a:off x="1524000" y="1122363"/>
            <a:ext cx="9144000" cy="1381125"/>
          </a:xfrm>
        </p:spPr>
        <p:txBody>
          <a:bodyPr>
            <a:normAutofit/>
          </a:bodyPr>
          <a:lstStyle/>
          <a:p>
            <a:r>
              <a:rPr lang="en-IN" sz="4800" dirty="0"/>
              <a:t>Online Auction And Bidding System</a:t>
            </a:r>
            <a:br>
              <a:rPr lang="en-IN" dirty="0"/>
            </a:br>
            <a:r>
              <a:rPr lang="en-IN" sz="3100" dirty="0"/>
              <a:t>Team no:14</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p:txBody>
          <a:bodyPr/>
          <a:lstStyle/>
          <a:p>
            <a:r>
              <a:rPr lang="en-IN" dirty="0"/>
              <a:t>Student Name: Shreyasi	Roll No: 2620030164</a:t>
            </a:r>
          </a:p>
          <a:p>
            <a:r>
              <a:rPr lang="en-IN" dirty="0"/>
              <a:t>Student Name: Harshini 	Roll No: 2620030649</a:t>
            </a:r>
          </a:p>
          <a:p>
            <a:r>
              <a:rPr lang="en-IN" dirty="0"/>
              <a:t>Student Name: Neha 	Roll No: 2620030662</a:t>
            </a:r>
          </a:p>
          <a:p>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16-10-2026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r>
              <a:t>1</a:t>
            </a:r>
            <a:endParaRPr lang="en-IN"/>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1AF3-F02C-0F4C-0929-57F8B753540D}"/>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D4712F73-2B13-AB30-C0D8-CBA5CE269654}"/>
              </a:ext>
            </a:extLst>
          </p:cNvPr>
          <p:cNvSpPr>
            <a:spLocks noGrp="1"/>
          </p:cNvSpPr>
          <p:nvPr>
            <p:ph idx="1"/>
          </p:nvPr>
        </p:nvSpPr>
        <p:spPr>
          <a:xfrm>
            <a:off x="838200" y="1906058"/>
            <a:ext cx="10515600" cy="3733800"/>
          </a:xfrm>
        </p:spPr>
        <p:txBody>
          <a:bodyPr>
            <a:noAutofit/>
          </a:bodyPr>
          <a:lstStyle/>
          <a:p>
            <a:pPr marL="0" indent="0">
              <a:buNone/>
            </a:pPr>
            <a:r>
              <a:rPr lang="en-IN" sz="1600" dirty="0"/>
              <a:t>An Online Auction and Bidding System is a digital platform where sellers list items or services and buyers compete for them in real time over the internet. The system has five main steps. First, users create verified accounts as buyers, sellers, or administrators. Sellers then post items with photos, descriptions, base prices, and auction end times. Buyers place real-time bids, and the system instantly updates the highest price. When the countdown ends, the highest bidder automatically wins, and the platform processes the final transaction through online payment.</a:t>
            </a:r>
          </a:p>
          <a:p>
            <a:pPr marL="0" indent="0">
              <a:buNone/>
            </a:pPr>
            <a:r>
              <a:rPr lang="en-IN" sz="1600" dirty="0"/>
              <a:t>The system benefits users by allowing them to bid from anywhere in the world, providing real-time updates and tracking for fair bidding. Sellers can also reach buyers worldwide. The system mainly has three types of users: </a:t>
            </a:r>
            <a:r>
              <a:rPr lang="en-IN" sz="1600" b="1" dirty="0"/>
              <a:t>admin, seller, and buyer</a:t>
            </a:r>
            <a:r>
              <a:rPr lang="en-IN" sz="1600" dirty="0"/>
              <a:t>. The admin monitors the website, listed items, and transactions. Sellers can create accounts, upload product details and photos, set starting prices, and control the auction duration. Buyers can create accounts, view available items, and bid on products they like.</a:t>
            </a:r>
          </a:p>
          <a:p>
            <a:pPr marL="0" indent="0">
              <a:buNone/>
            </a:pPr>
            <a:r>
              <a:rPr lang="en-IN" sz="1600" dirty="0"/>
              <a:t>The system saves time and makes buying and selling easier and more convenient. Future improvements may include </a:t>
            </a:r>
            <a:r>
              <a:rPr lang="en-IN" sz="1600" b="1" dirty="0"/>
              <a:t>AI-based fraud detection and enhanced security</a:t>
            </a:r>
            <a:r>
              <a:rPr lang="en-IN" sz="1600" dirty="0"/>
              <a:t>, making the platform safer, fairer, and more effective for online transactions.</a:t>
            </a:r>
          </a:p>
          <a:p>
            <a:pPr marL="0" indent="0">
              <a:buNone/>
            </a:pPr>
            <a:endParaRPr lang="en-IN" sz="1600" dirty="0"/>
          </a:p>
        </p:txBody>
      </p:sp>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16-10-2026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r>
              <a:t>2</a:t>
            </a:r>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4AC2B-1702-695F-E0B5-9F6550F04B7D}"/>
              </a:ext>
            </a:extLst>
          </p:cNvPr>
          <p:cNvSpPr>
            <a:spLocks noGrp="1"/>
          </p:cNvSpPr>
          <p:nvPr>
            <p:ph type="title"/>
          </p:nvPr>
        </p:nvSpPr>
        <p:spPr/>
        <p:txBody>
          <a:bodyPr/>
          <a:lstStyle/>
          <a:p>
            <a:r>
              <a:rPr lang="en-IN" dirty="0"/>
              <a:t>Understanding Problem Statement</a:t>
            </a:r>
          </a:p>
        </p:txBody>
      </p:sp>
      <p:sp>
        <p:nvSpPr>
          <p:cNvPr id="3" name="Content Placeholder 2">
            <a:extLst>
              <a:ext uri="{FF2B5EF4-FFF2-40B4-BE49-F238E27FC236}">
                <a16:creationId xmlns:a16="http://schemas.microsoft.com/office/drawing/2014/main" id="{B7ACF377-DEED-0D67-3271-7CBBBC860DA8}"/>
              </a:ext>
            </a:extLst>
          </p:cNvPr>
          <p:cNvSpPr>
            <a:spLocks noGrp="1"/>
          </p:cNvSpPr>
          <p:nvPr>
            <p:ph idx="1"/>
          </p:nvPr>
        </p:nvSpPr>
        <p:spPr>
          <a:xfrm>
            <a:off x="838200" y="1825625"/>
            <a:ext cx="10515600" cy="4163695"/>
          </a:xfrm>
        </p:spPr>
        <p:txBody>
          <a:bodyPr>
            <a:normAutofit fontScale="62500" lnSpcReduction="20000"/>
          </a:bodyPr>
          <a:lstStyle/>
          <a:p>
            <a:pPr marL="0" indent="0">
              <a:buNone/>
            </a:pPr>
            <a:r>
              <a:rPr lang="en-IN" b="1" dirty="0"/>
              <a:t>The Problem</a:t>
            </a:r>
          </a:p>
          <a:p>
            <a:pPr lvl="0"/>
            <a:r>
              <a:rPr lang="en-IN" dirty="0"/>
              <a:t>Traditional auctions require physical presence at a specific location and time</a:t>
            </a:r>
          </a:p>
          <a:p>
            <a:pPr lvl="0"/>
            <a:r>
              <a:rPr lang="en-IN" dirty="0"/>
              <a:t>Limited participation due to geographical and temporal constraints</a:t>
            </a:r>
          </a:p>
          <a:p>
            <a:pPr lvl="0"/>
            <a:r>
              <a:rPr lang="en-IN" dirty="0"/>
              <a:t>Inconvenient for both buyers and sellers</a:t>
            </a:r>
          </a:p>
          <a:p>
            <a:r>
              <a:rPr lang="en-IN" b="1" dirty="0"/>
              <a:t>Proposed Solution</a:t>
            </a:r>
          </a:p>
          <a:p>
            <a:r>
              <a:rPr lang="en-IN" dirty="0"/>
              <a:t>An Online Auction and Bidding System enables digital participation anytime, anywhere — eliminating barriers and expanding reach.</a:t>
            </a:r>
          </a:p>
          <a:p>
            <a:r>
              <a:rPr lang="en-IN" b="1" dirty="0"/>
              <a:t>Objectives</a:t>
            </a:r>
          </a:p>
          <a:p>
            <a:pPr lvl="0"/>
            <a:r>
              <a:rPr lang="en-IN" dirty="0"/>
              <a:t>Enable sellers to list products with full details</a:t>
            </a:r>
          </a:p>
          <a:p>
            <a:pPr lvl="0"/>
            <a:r>
              <a:rPr lang="en-IN" dirty="0"/>
              <a:t>Allow buyers to place competitive bids remotely</a:t>
            </a:r>
          </a:p>
          <a:p>
            <a:pPr lvl="0"/>
            <a:r>
              <a:rPr lang="en-IN" dirty="0"/>
              <a:t>Track and update the highest bid automatically</a:t>
            </a:r>
          </a:p>
          <a:p>
            <a:pPr lvl="0"/>
            <a:r>
              <a:rPr lang="en-IN" dirty="0"/>
              <a:t>Identify the winning bidder systematically</a:t>
            </a:r>
          </a:p>
          <a:p>
            <a:pPr lvl="0"/>
            <a:r>
              <a:rPr lang="en-IN" dirty="0"/>
              <a:t>Apply Java programming to a real-world problem</a:t>
            </a:r>
          </a:p>
          <a:p>
            <a:pPr marL="0" indent="0">
              <a:buNone/>
            </a:pPr>
            <a:endParaRPr lang="en-IN" b="1" dirty="0"/>
          </a:p>
          <a:p>
            <a:endParaRPr lang="en-IN" dirty="0"/>
          </a:p>
        </p:txBody>
      </p:sp>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16-10-2026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r>
              <a:t>3</a:t>
            </a:r>
            <a:endParaRPr lang="en-IN"/>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54CC5-4FD5-611A-4481-E878E281E2CD}"/>
              </a:ext>
            </a:extLst>
          </p:cNvPr>
          <p:cNvSpPr>
            <a:spLocks noGrp="1"/>
          </p:cNvSpPr>
          <p:nvPr>
            <p:ph type="title"/>
          </p:nvPr>
        </p:nvSpPr>
        <p:spPr>
          <a:xfrm>
            <a:off x="1143000" y="990600"/>
            <a:ext cx="10210800" cy="510540"/>
          </a:xfrm>
        </p:spPr>
        <p:txBody>
          <a:bodyPr>
            <a:normAutofit fontScale="90000"/>
          </a:bodyPr>
          <a:lstStyle/>
          <a:p>
            <a:r>
              <a:rPr lang="en-IN" dirty="0"/>
              <a:t>CO 1: Java Foundations &amp; Problem Solving</a:t>
            </a:r>
            <a:br>
              <a:rPr lang="en-IN" b="1" dirty="0"/>
            </a:br>
            <a:endParaRPr lang="en-IN" dirty="0"/>
          </a:p>
        </p:txBody>
      </p:sp>
      <p:sp>
        <p:nvSpPr>
          <p:cNvPr id="3" name="Content Placeholder 2">
            <a:extLst>
              <a:ext uri="{FF2B5EF4-FFF2-40B4-BE49-F238E27FC236}">
                <a16:creationId xmlns:a16="http://schemas.microsoft.com/office/drawing/2014/main" id="{9AFB5369-B8D0-CB2C-61B6-348BDF6E4004}"/>
              </a:ext>
            </a:extLst>
          </p:cNvPr>
          <p:cNvSpPr>
            <a:spLocks noGrp="1"/>
          </p:cNvSpPr>
          <p:nvPr>
            <p:ph idx="1"/>
          </p:nvPr>
        </p:nvSpPr>
        <p:spPr>
          <a:xfrm>
            <a:off x="838200" y="1501140"/>
            <a:ext cx="10515600" cy="4675823"/>
          </a:xfrm>
        </p:spPr>
        <p:txBody>
          <a:bodyPr>
            <a:normAutofit/>
          </a:bodyPr>
          <a:lstStyle/>
          <a:p>
            <a:pPr marL="0" indent="0">
              <a:buNone/>
            </a:pPr>
            <a:r>
              <a:rPr lang="en-IN" dirty="0"/>
              <a:t>Problem Decomposition</a:t>
            </a:r>
          </a:p>
          <a:p>
            <a:pPr marL="342900" indent="-342900">
              <a:buFont typeface="+mj-lt"/>
              <a:buAutoNum type="arabicPeriod"/>
            </a:pPr>
            <a:r>
              <a:rPr lang="en-IN" sz="1400" dirty="0"/>
              <a:t>Product Listing Management</a:t>
            </a:r>
          </a:p>
          <a:p>
            <a:pPr marL="342900" indent="-342900">
              <a:buFont typeface="+mj-lt"/>
              <a:buAutoNum type="arabicPeriod"/>
            </a:pPr>
            <a:r>
              <a:rPr lang="en-IN" sz="1400" dirty="0"/>
              <a:t>Bid Placement &amp; Validation</a:t>
            </a:r>
          </a:p>
          <a:p>
            <a:pPr marL="342900" indent="-342900">
              <a:buFont typeface="+mj-lt"/>
              <a:buAutoNum type="arabicPeriod"/>
            </a:pPr>
            <a:r>
              <a:rPr lang="en-IN" sz="1400" dirty="0"/>
              <a:t>Highest-Bid Calculation &amp; Winner Declaration</a:t>
            </a:r>
          </a:p>
          <a:p>
            <a:pPr marL="0" indent="0">
              <a:buNone/>
            </a:pPr>
            <a:r>
              <a:rPr lang="en-IN" dirty="0"/>
              <a:t>Java Concepts Applied</a:t>
            </a:r>
          </a:p>
          <a:p>
            <a:r>
              <a:rPr lang="en-IN" sz="1500" dirty="0"/>
              <a:t>Data Types</a:t>
            </a:r>
          </a:p>
          <a:p>
            <a:pPr marL="0" indent="0">
              <a:buNone/>
            </a:pPr>
            <a:r>
              <a:rPr lang="en-IN" sz="1500" dirty="0"/>
              <a:t>int, double, String — for product info and bid amounts</a:t>
            </a:r>
          </a:p>
          <a:p>
            <a:r>
              <a:rPr lang="en-IN" sz="1500" dirty="0"/>
              <a:t>Operators</a:t>
            </a:r>
          </a:p>
          <a:p>
            <a:pPr marL="0" indent="0">
              <a:buNone/>
            </a:pPr>
            <a:r>
              <a:rPr lang="en-IN" sz="1500" dirty="0"/>
              <a:t>Relational &gt; for bid comparison; arithmetic for calculations</a:t>
            </a:r>
          </a:p>
          <a:p>
            <a:r>
              <a:rPr lang="en-IN" sz="1500" dirty="0"/>
              <a:t>Scanner Input</a:t>
            </a:r>
          </a:p>
          <a:p>
            <a:pPr marL="0" indent="0">
              <a:buNone/>
            </a:pPr>
            <a:r>
              <a:rPr lang="en-IN" sz="1500" dirty="0"/>
              <a:t>Accept user input for bids, product names, and details</a:t>
            </a:r>
          </a:p>
          <a:p>
            <a:pPr marL="0" indent="0">
              <a:buNone/>
            </a:pPr>
            <a:endParaRPr lang="en-IN" dirty="0"/>
          </a:p>
        </p:txBody>
      </p:sp>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16-10-2026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r>
              <a:t>4</a:t>
            </a:r>
            <a:endParaRPr lang="en-IN"/>
          </a:p>
        </p:txBody>
      </p:sp>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4FDF4-A21D-11D6-CA7A-382058E2F499}"/>
              </a:ext>
            </a:extLst>
          </p:cNvPr>
          <p:cNvSpPr>
            <a:spLocks noGrp="1"/>
          </p:cNvSpPr>
          <p:nvPr>
            <p:ph type="title"/>
          </p:nvPr>
        </p:nvSpPr>
        <p:spPr>
          <a:xfrm>
            <a:off x="1354666" y="474133"/>
            <a:ext cx="9999133" cy="1216555"/>
          </a:xfrm>
        </p:spPr>
        <p:txBody>
          <a:bodyPr>
            <a:normAutofit fontScale="90000"/>
          </a:bodyPr>
          <a:lstStyle/>
          <a:p>
            <a:r>
              <a:rPr lang="en-IN" dirty="0"/>
              <a:t>Co 2:</a:t>
            </a:r>
            <a:r>
              <a:rPr lang="en-IN" b="1" dirty="0"/>
              <a:t> </a:t>
            </a:r>
            <a:r>
              <a:rPr lang="en-IN" dirty="0"/>
              <a:t>Control Flow</a:t>
            </a:r>
            <a:br>
              <a:rPr lang="en-IN" b="1" dirty="0"/>
            </a:br>
            <a:endParaRPr lang="en-IN" dirty="0"/>
          </a:p>
        </p:txBody>
      </p:sp>
      <p:sp>
        <p:nvSpPr>
          <p:cNvPr id="3" name="Content Placeholder 2">
            <a:extLst>
              <a:ext uri="{FF2B5EF4-FFF2-40B4-BE49-F238E27FC236}">
                <a16:creationId xmlns:a16="http://schemas.microsoft.com/office/drawing/2014/main" id="{78027864-8698-BA0E-D44D-3E693AAB48AD}"/>
              </a:ext>
            </a:extLst>
          </p:cNvPr>
          <p:cNvSpPr>
            <a:spLocks noGrp="1"/>
          </p:cNvSpPr>
          <p:nvPr>
            <p:ph idx="1"/>
          </p:nvPr>
        </p:nvSpPr>
        <p:spPr>
          <a:xfrm>
            <a:off x="838200" y="1286933"/>
            <a:ext cx="10515600" cy="4664287"/>
          </a:xfrm>
        </p:spPr>
        <p:txBody>
          <a:bodyPr>
            <a:normAutofit/>
          </a:bodyPr>
          <a:lstStyle/>
          <a:p>
            <a:pPr marL="0" indent="0">
              <a:buNone/>
            </a:pPr>
            <a:r>
              <a:rPr lang="en-IN" dirty="0"/>
              <a:t>if-else Statements</a:t>
            </a:r>
          </a:p>
          <a:p>
            <a:pPr marL="0" indent="0">
              <a:buNone/>
            </a:pPr>
            <a:r>
              <a:rPr lang="en-IN" sz="2000" dirty="0"/>
              <a:t>Validate bid amount and user role. Nested if checks auction status and bid eligibility before acceptance.</a:t>
            </a:r>
          </a:p>
          <a:p>
            <a:pPr>
              <a:buNone/>
            </a:pPr>
            <a:endParaRPr lang="en-IN" dirty="0"/>
          </a:p>
          <a:p>
            <a:pPr>
              <a:buNone/>
            </a:pPr>
            <a:r>
              <a:rPr lang="en-IN" dirty="0"/>
              <a:t>switch Statement</a:t>
            </a:r>
          </a:p>
          <a:p>
            <a:pPr>
              <a:buNone/>
            </a:pPr>
            <a:r>
              <a:rPr lang="en-IN" sz="2000" dirty="0"/>
              <a:t>Routes navigation to Admin, Seller, or Buyer menu based on user selection.</a:t>
            </a:r>
          </a:p>
          <a:p>
            <a:pPr marL="0" indent="0">
              <a:buNone/>
            </a:pPr>
            <a:endParaRPr lang="en-IN" dirty="0"/>
          </a:p>
          <a:p>
            <a:pPr marL="0" indent="0">
              <a:buNone/>
            </a:pPr>
            <a:r>
              <a:rPr lang="en-IN" dirty="0"/>
              <a:t>Loops</a:t>
            </a:r>
          </a:p>
          <a:p>
            <a:pPr marL="0" indent="0">
              <a:buNone/>
            </a:pPr>
            <a:r>
              <a:rPr lang="en-IN" sz="2000" b="1" dirty="0"/>
              <a:t>while:</a:t>
            </a:r>
            <a:r>
              <a:rPr lang="en-IN" sz="2000" dirty="0"/>
              <a:t> Keep auction running until end time</a:t>
            </a:r>
            <a:br>
              <a:rPr lang="en-IN" sz="2000" dirty="0"/>
            </a:br>
            <a:r>
              <a:rPr lang="en-IN" sz="2000" b="1" dirty="0"/>
              <a:t>for:</a:t>
            </a:r>
            <a:r>
              <a:rPr lang="en-IN" sz="2000" dirty="0"/>
              <a:t> Display all products or bidding history</a:t>
            </a:r>
            <a:br>
              <a:rPr lang="en-IN" sz="2000" dirty="0"/>
            </a:br>
            <a:r>
              <a:rPr lang="en-IN" sz="2000" b="1" dirty="0"/>
              <a:t>break/continue:</a:t>
            </a:r>
            <a:r>
              <a:rPr lang="en-IN" sz="2000" dirty="0"/>
              <a:t> Control bid acceptance and auction flow</a:t>
            </a:r>
          </a:p>
          <a:p>
            <a:endParaRPr lang="en-IN" dirty="0"/>
          </a:p>
        </p:txBody>
      </p:sp>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16-10-2026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r>
              <a:t>5</a:t>
            </a:r>
            <a:endParaRPr lang="en-IN"/>
          </a:p>
        </p:txBody>
      </p:sp>
    </p:spTree>
    <p:extLst>
      <p:ext uri="{BB962C8B-B14F-4D97-AF65-F5344CB8AC3E}">
        <p14:creationId xmlns:p14="http://schemas.microsoft.com/office/powerpoint/2010/main" val="41781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DDFB-DFEC-7A21-D889-17965A225820}"/>
              </a:ext>
            </a:extLst>
          </p:cNvPr>
          <p:cNvSpPr>
            <a:spLocks noGrp="1"/>
          </p:cNvSpPr>
          <p:nvPr>
            <p:ph type="title"/>
          </p:nvPr>
        </p:nvSpPr>
        <p:spPr>
          <a:xfrm>
            <a:off x="1473200" y="245001"/>
            <a:ext cx="9880600" cy="1199621"/>
          </a:xfrm>
        </p:spPr>
        <p:txBody>
          <a:bodyPr>
            <a:normAutofit fontScale="90000"/>
          </a:bodyPr>
          <a:lstStyle/>
          <a:p>
            <a:r>
              <a:rPr lang="en-IN" dirty="0"/>
              <a:t>CO 3: Methods, Arrays &amp; Data Organization</a:t>
            </a:r>
            <a:br>
              <a:rPr lang="en-IN" b="1" dirty="0"/>
            </a:br>
            <a:endParaRPr lang="en-IN" dirty="0"/>
          </a:p>
        </p:txBody>
      </p:sp>
      <p:sp>
        <p:nvSpPr>
          <p:cNvPr id="3" name="Content Placeholder 2">
            <a:extLst>
              <a:ext uri="{FF2B5EF4-FFF2-40B4-BE49-F238E27FC236}">
                <a16:creationId xmlns:a16="http://schemas.microsoft.com/office/drawing/2014/main" id="{AE8ACD64-BF58-761A-504E-C381351EE857}"/>
              </a:ext>
            </a:extLst>
          </p:cNvPr>
          <p:cNvSpPr>
            <a:spLocks noGrp="1"/>
          </p:cNvSpPr>
          <p:nvPr>
            <p:ph idx="1"/>
          </p:nvPr>
        </p:nvSpPr>
        <p:spPr>
          <a:xfrm>
            <a:off x="440267" y="1145481"/>
            <a:ext cx="10913533" cy="4720696"/>
          </a:xfrm>
        </p:spPr>
        <p:txBody>
          <a:bodyPr>
            <a:normAutofit/>
          </a:bodyPr>
          <a:lstStyle/>
          <a:p>
            <a:pPr marL="0" indent="0">
              <a:buNone/>
            </a:pPr>
            <a:r>
              <a:rPr lang="en-IN" sz="1600" b="1" dirty="0"/>
              <a:t>Modular Methods</a:t>
            </a:r>
          </a:p>
          <a:p>
            <a:r>
              <a:rPr lang="en-IN" sz="1600" b="1" dirty="0" err="1"/>
              <a:t>addProduct</a:t>
            </a:r>
            <a:r>
              <a:rPr lang="en-IN" sz="1600" b="1" dirty="0"/>
              <a:t>()</a:t>
            </a:r>
          </a:p>
          <a:p>
            <a:pPr marL="0" indent="0">
              <a:buNone/>
            </a:pPr>
            <a:r>
              <a:rPr lang="en-IN" sz="1600" dirty="0"/>
              <a:t>Seller adds a new product to the system</a:t>
            </a:r>
          </a:p>
          <a:p>
            <a:r>
              <a:rPr lang="en-IN" sz="1600" b="1" dirty="0" err="1"/>
              <a:t>displayProducts</a:t>
            </a:r>
            <a:r>
              <a:rPr lang="en-IN" sz="1600" b="1" dirty="0"/>
              <a:t>()</a:t>
            </a:r>
          </a:p>
          <a:p>
            <a:pPr marL="0" indent="0">
              <a:buNone/>
            </a:pPr>
            <a:r>
              <a:rPr lang="en-IN" sz="1600" dirty="0"/>
              <a:t>Show all available products to buyers</a:t>
            </a:r>
          </a:p>
          <a:p>
            <a:r>
              <a:rPr lang="en-IN" sz="1600" b="1" dirty="0" err="1"/>
              <a:t>placeBid</a:t>
            </a:r>
            <a:r>
              <a:rPr lang="en-IN" sz="1600" b="1" dirty="0"/>
              <a:t>()</a:t>
            </a:r>
          </a:p>
          <a:p>
            <a:pPr marL="0" indent="0">
              <a:buNone/>
            </a:pPr>
            <a:r>
              <a:rPr lang="en-IN" sz="1600" dirty="0"/>
              <a:t>Accept and validate buyer bid input</a:t>
            </a:r>
          </a:p>
          <a:p>
            <a:r>
              <a:rPr lang="en-IN" sz="1600" b="1" dirty="0" err="1"/>
              <a:t>declareWinner</a:t>
            </a:r>
            <a:r>
              <a:rPr lang="en-IN" sz="1600" b="1" dirty="0"/>
              <a:t>()</a:t>
            </a:r>
          </a:p>
          <a:p>
            <a:pPr marL="0" indent="0">
              <a:buNone/>
            </a:pPr>
            <a:r>
              <a:rPr lang="en-IN" sz="1600" dirty="0"/>
              <a:t>Identify the highest bidder at auction end</a:t>
            </a:r>
          </a:p>
          <a:p>
            <a:endParaRPr lang="en-IN" dirty="0"/>
          </a:p>
        </p:txBody>
      </p:sp>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16-10-2026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r>
              <a:t>6</a:t>
            </a:r>
            <a:endParaRPr lang="en-IN"/>
          </a:p>
        </p:txBody>
      </p:sp>
      <p:sp>
        <p:nvSpPr>
          <p:cNvPr id="8" name="TextBox 7">
            <a:extLst>
              <a:ext uri="{FF2B5EF4-FFF2-40B4-BE49-F238E27FC236}">
                <a16:creationId xmlns:a16="http://schemas.microsoft.com/office/drawing/2014/main" id="{CF014780-B1CB-4D09-4D6D-4D9BE8734C0C}"/>
              </a:ext>
            </a:extLst>
          </p:cNvPr>
          <p:cNvSpPr txBox="1"/>
          <p:nvPr/>
        </p:nvSpPr>
        <p:spPr>
          <a:xfrm>
            <a:off x="5257800" y="1089898"/>
            <a:ext cx="6096000" cy="615553"/>
          </a:xfrm>
          <a:prstGeom prst="rect">
            <a:avLst/>
          </a:prstGeom>
          <a:noFill/>
        </p:spPr>
        <p:txBody>
          <a:bodyPr wrap="square">
            <a:spAutoFit/>
          </a:bodyPr>
          <a:lstStyle/>
          <a:p>
            <a:pPr>
              <a:buNone/>
            </a:pPr>
            <a:r>
              <a:rPr lang="en-IN" b="1" dirty="0"/>
              <a:t>Arrays for Data Storage</a:t>
            </a:r>
          </a:p>
          <a:p>
            <a:pPr>
              <a:buNone/>
            </a:pPr>
            <a:r>
              <a:rPr lang="en-IN" sz="1600" dirty="0">
                <a:latin typeface="+mn-lt"/>
              </a:rPr>
              <a:t>1D Arrays</a:t>
            </a:r>
          </a:p>
        </p:txBody>
      </p:sp>
    </p:spTree>
    <p:extLst>
      <p:ext uri="{BB962C8B-B14F-4D97-AF65-F5344CB8AC3E}">
        <p14:creationId xmlns:p14="http://schemas.microsoft.com/office/powerpoint/2010/main" val="1869875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F014780-B1CB-4D09-4D6D-4D9BE8734C0C}"/>
              </a:ext>
            </a:extLst>
          </p:cNvPr>
          <p:cNvSpPr txBox="1"/>
          <p:nvPr/>
        </p:nvSpPr>
        <p:spPr>
          <a:xfrm>
            <a:off x="5257800" y="1089898"/>
            <a:ext cx="6096000" cy="615553"/>
          </a:xfrm>
          <a:prstGeom prst="rect">
            <a:avLst/>
          </a:prstGeom>
          <a:noFill/>
        </p:spPr>
        <p:txBody>
          <a:bodyPr wrap="square">
            <a:spAutoFit/>
          </a:bodyPr>
          <a:lstStyle/>
          <a:p>
            <a:pPr>
              <a:buNone/>
            </a:pPr>
            <a:endParaRPr/>
          </a:p>
        </p:txBody>
      </p:sp>
      <p:sp>
        <p:nvSpPr>
          <p:cNvPr id="9" name="TextBox 8"/>
          <p:cNvSpPr txBox="1"/>
          <p:nvPr/>
        </p:nvSpPr>
        <p:spPr>
          <a:xfrm>
            <a:off x="731520" y="960120"/>
            <a:ext cx="10789920" cy="640080"/>
          </a:xfrm>
          <a:prstGeom prst="rect">
            <a:avLst/>
          </a:prstGeom>
          <a:noFill/>
        </p:spPr>
        <p:txBody>
          <a:bodyPr wrap="none">
            <a:spAutoFit/>
          </a:bodyPr>
          <a:lstStyle/>
          <a:p>
            <a:r>
              <a:rPr sz="2800" b="1"/>
              <a:t>CO 4: Object-Oriented Modelling, Design &amp; Exception Handling</a:t>
            </a:r>
          </a:p>
        </p:txBody>
      </p:sp>
      <p:sp>
        <p:nvSpPr>
          <p:cNvPr id="10" name="TextBox 9"/>
          <p:cNvSpPr txBox="1"/>
          <p:nvPr/>
        </p:nvSpPr>
        <p:spPr>
          <a:xfrm>
            <a:off x="839894" y="2446867"/>
            <a:ext cx="5029200" cy="4114800"/>
          </a:xfrm>
          <a:prstGeom prst="rect">
            <a:avLst/>
          </a:prstGeom>
          <a:noFill/>
        </p:spPr>
        <p:txBody>
          <a:bodyPr wrap="square">
            <a:spAutoFit/>
          </a:bodyPr>
          <a:lstStyle/>
          <a:p>
            <a:pPr>
              <a:spcAft>
                <a:spcPts val="1000"/>
              </a:spcAft>
              <a:defRPr sz="1900"/>
            </a:pPr>
            <a:r>
              <a:rPr dirty="0"/>
              <a:t>Classes &amp; Objects</a:t>
            </a:r>
          </a:p>
          <a:p>
            <a:pPr>
              <a:spcAft>
                <a:spcPts val="1000"/>
              </a:spcAft>
              <a:defRPr sz="1900"/>
            </a:pPr>
            <a:r>
              <a:rPr dirty="0"/>
              <a:t>Classes as blueprints; objects as instances</a:t>
            </a:r>
          </a:p>
          <a:p>
            <a:pPr>
              <a:spcAft>
                <a:spcPts val="1000"/>
              </a:spcAft>
              <a:defRPr sz="1900"/>
            </a:pPr>
            <a:r>
              <a:rPr dirty="0"/>
              <a:t>Fields, methods &amp; object creation using new</a:t>
            </a:r>
          </a:p>
          <a:p>
            <a:pPr>
              <a:spcAft>
                <a:spcPts val="1000"/>
              </a:spcAft>
              <a:defRPr sz="1900"/>
            </a:pPr>
            <a:r>
              <a:rPr dirty="0"/>
              <a:t>Constructors: default, parameterized &amp; overloading</a:t>
            </a:r>
          </a:p>
          <a:p>
            <a:pPr>
              <a:spcAft>
                <a:spcPts val="1000"/>
              </a:spcAft>
              <a:defRPr sz="1900"/>
            </a:pPr>
            <a:r>
              <a:rPr dirty="0"/>
              <a:t>this, null &amp; reference concepts</a:t>
            </a:r>
          </a:p>
          <a:p>
            <a:pPr>
              <a:spcAft>
                <a:spcPts val="1000"/>
              </a:spcAft>
              <a:defRPr sz="1900"/>
            </a:pPr>
            <a:r>
              <a:rPr dirty="0"/>
              <a:t>Encapsulation: private fields, accessors &amp; mutators</a:t>
            </a:r>
          </a:p>
        </p:txBody>
      </p:sp>
      <p:sp>
        <p:nvSpPr>
          <p:cNvPr id="11" name="TextBox 10"/>
          <p:cNvSpPr txBox="1"/>
          <p:nvPr/>
        </p:nvSpPr>
        <p:spPr>
          <a:xfrm>
            <a:off x="6194213" y="2446867"/>
            <a:ext cx="5029200" cy="2487861"/>
          </a:xfrm>
          <a:prstGeom prst="rect">
            <a:avLst/>
          </a:prstGeom>
          <a:noFill/>
        </p:spPr>
        <p:txBody>
          <a:bodyPr wrap="square">
            <a:spAutoFit/>
          </a:bodyPr>
          <a:lstStyle/>
          <a:p>
            <a:pPr>
              <a:spcAft>
                <a:spcPts val="1000"/>
              </a:spcAft>
              <a:defRPr sz="1900"/>
            </a:pPr>
            <a:r>
              <a:rPr dirty="0"/>
              <a:t>Inheritance &amp; Interfaces</a:t>
            </a:r>
          </a:p>
          <a:p>
            <a:pPr>
              <a:spcAft>
                <a:spcPts val="1000"/>
              </a:spcAft>
              <a:defRPr sz="1900"/>
            </a:pPr>
            <a:r>
              <a:rPr dirty="0"/>
              <a:t>is-a relationships and method overriding</a:t>
            </a:r>
          </a:p>
          <a:p>
            <a:pPr>
              <a:spcAft>
                <a:spcPts val="1000"/>
              </a:spcAft>
              <a:defRPr sz="1900"/>
            </a:pPr>
            <a:r>
              <a:rPr dirty="0"/>
              <a:t>Programming to interfaces</a:t>
            </a:r>
          </a:p>
          <a:p>
            <a:pPr>
              <a:spcAft>
                <a:spcPts val="1000"/>
              </a:spcAft>
              <a:defRPr sz="1900"/>
            </a:pPr>
            <a:r>
              <a:rPr dirty="0"/>
              <a:t>Exception Handling</a:t>
            </a:r>
          </a:p>
          <a:p>
            <a:pPr>
              <a:spcAft>
                <a:spcPts val="1000"/>
              </a:spcAft>
              <a:defRPr sz="1900"/>
            </a:pPr>
            <a:r>
              <a:rPr dirty="0"/>
              <a:t>Checked vs unchecked exceptions</a:t>
            </a:r>
          </a:p>
          <a:p>
            <a:pPr>
              <a:spcAft>
                <a:spcPts val="1000"/>
              </a:spcAft>
              <a:defRPr sz="1900"/>
            </a:pPr>
            <a:r>
              <a:rPr dirty="0"/>
              <a:t>try-catch,</a:t>
            </a:r>
            <a:r>
              <a:rPr lang="en-IN" dirty="0"/>
              <a:t> </a:t>
            </a:r>
            <a:r>
              <a:rPr dirty="0"/>
              <a:t>throw &amp; throws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F014780-B1CB-4D09-4D6D-4D9BE8734C0C}"/>
              </a:ext>
            </a:extLst>
          </p:cNvPr>
          <p:cNvSpPr txBox="1"/>
          <p:nvPr/>
        </p:nvSpPr>
        <p:spPr>
          <a:xfrm>
            <a:off x="5257800" y="1089898"/>
            <a:ext cx="6096000" cy="615553"/>
          </a:xfrm>
          <a:prstGeom prst="rect">
            <a:avLst/>
          </a:prstGeom>
          <a:noFill/>
        </p:spPr>
        <p:txBody>
          <a:bodyPr wrap="square">
            <a:spAutoFit/>
          </a:bodyPr>
          <a:lstStyle/>
          <a:p>
            <a:pPr>
              <a:buNone/>
            </a:pPr>
            <a:endParaRPr/>
          </a:p>
        </p:txBody>
      </p:sp>
      <p:sp>
        <p:nvSpPr>
          <p:cNvPr id="9" name="TextBox 8"/>
          <p:cNvSpPr txBox="1"/>
          <p:nvPr/>
        </p:nvSpPr>
        <p:spPr>
          <a:xfrm>
            <a:off x="731520" y="960120"/>
            <a:ext cx="10789920" cy="640080"/>
          </a:xfrm>
          <a:prstGeom prst="rect">
            <a:avLst/>
          </a:prstGeom>
          <a:noFill/>
        </p:spPr>
        <p:txBody>
          <a:bodyPr wrap="none">
            <a:spAutoFit/>
          </a:bodyPr>
          <a:lstStyle/>
          <a:p>
            <a:r>
              <a:rPr sz="2800" b="1"/>
              <a:t>CO 5: Strings, Library Algorithms &amp; File I/O</a:t>
            </a:r>
          </a:p>
        </p:txBody>
      </p:sp>
      <p:sp>
        <p:nvSpPr>
          <p:cNvPr id="10" name="TextBox 9"/>
          <p:cNvSpPr txBox="1"/>
          <p:nvPr/>
        </p:nvSpPr>
        <p:spPr>
          <a:xfrm>
            <a:off x="822960" y="1828800"/>
            <a:ext cx="5029200" cy="2487861"/>
          </a:xfrm>
          <a:prstGeom prst="rect">
            <a:avLst/>
          </a:prstGeom>
          <a:noFill/>
        </p:spPr>
        <p:txBody>
          <a:bodyPr wrap="square">
            <a:spAutoFit/>
          </a:bodyPr>
          <a:lstStyle/>
          <a:p>
            <a:pPr>
              <a:spcAft>
                <a:spcPts val="1000"/>
              </a:spcAft>
              <a:defRPr sz="1900"/>
            </a:pPr>
            <a:r>
              <a:rPr dirty="0"/>
              <a:t>String Abstraction</a:t>
            </a:r>
          </a:p>
          <a:p>
            <a:pPr>
              <a:spcAft>
                <a:spcPts val="1000"/>
              </a:spcAft>
              <a:defRPr sz="1900"/>
            </a:pPr>
            <a:r>
              <a:rPr dirty="0"/>
              <a:t>Immutability</a:t>
            </a:r>
          </a:p>
          <a:p>
            <a:pPr>
              <a:spcAft>
                <a:spcPts val="1000"/>
              </a:spcAft>
              <a:defRPr sz="1900"/>
            </a:pPr>
            <a:r>
              <a:rPr dirty="0"/>
              <a:t>concatenation</a:t>
            </a:r>
          </a:p>
          <a:p>
            <a:pPr>
              <a:spcAft>
                <a:spcPts val="1000"/>
              </a:spcAft>
              <a:defRPr sz="1900"/>
            </a:pPr>
            <a:r>
              <a:rPr dirty="0"/>
              <a:t>equals() vs == for value/reference comparison</a:t>
            </a:r>
            <a:endParaRPr lang="en-IN" dirty="0"/>
          </a:p>
          <a:p>
            <a:pPr>
              <a:spcAft>
                <a:spcPts val="1000"/>
              </a:spcAft>
              <a:defRPr sz="1900"/>
            </a:pPr>
            <a:r>
              <a:rPr dirty="0"/>
              <a:t>StringBuilder &amp; </a:t>
            </a:r>
            <a:r>
              <a:rPr dirty="0" err="1"/>
              <a:t>StringBuffer</a:t>
            </a:r>
            <a:endParaRPr dirty="0"/>
          </a:p>
          <a:p>
            <a:pPr>
              <a:spcAft>
                <a:spcPts val="1000"/>
              </a:spcAft>
              <a:defRPr sz="1900"/>
            </a:pPr>
            <a:r>
              <a:rPr dirty="0"/>
              <a:t>split(), join(), trim() &amp; validation</a:t>
            </a:r>
          </a:p>
        </p:txBody>
      </p:sp>
      <p:sp>
        <p:nvSpPr>
          <p:cNvPr id="11" name="TextBox 10"/>
          <p:cNvSpPr txBox="1"/>
          <p:nvPr/>
        </p:nvSpPr>
        <p:spPr>
          <a:xfrm>
            <a:off x="6126480" y="1828800"/>
            <a:ext cx="5029200" cy="2487861"/>
          </a:xfrm>
          <a:prstGeom prst="rect">
            <a:avLst/>
          </a:prstGeom>
          <a:noFill/>
        </p:spPr>
        <p:txBody>
          <a:bodyPr wrap="square">
            <a:spAutoFit/>
          </a:bodyPr>
          <a:lstStyle/>
          <a:p>
            <a:pPr>
              <a:spcAft>
                <a:spcPts val="1000"/>
              </a:spcAft>
              <a:defRPr sz="1900"/>
            </a:pPr>
            <a:r>
              <a:rPr dirty="0"/>
              <a:t>Library Algorithms &amp; File I/O</a:t>
            </a:r>
          </a:p>
          <a:p>
            <a:pPr>
              <a:spcAft>
                <a:spcPts val="1000"/>
              </a:spcAft>
              <a:defRPr sz="1900"/>
            </a:pPr>
            <a:r>
              <a:rPr dirty="0" err="1"/>
              <a:t>Arrays.sort</a:t>
            </a:r>
            <a:r>
              <a:rPr dirty="0"/>
              <a:t>()</a:t>
            </a:r>
            <a:endParaRPr lang="en-IN" dirty="0"/>
          </a:p>
          <a:p>
            <a:pPr>
              <a:spcAft>
                <a:spcPts val="1000"/>
              </a:spcAft>
              <a:defRPr sz="1900"/>
            </a:pPr>
            <a:r>
              <a:rPr dirty="0"/>
              <a:t>Comparable &amp; Comparator</a:t>
            </a:r>
          </a:p>
          <a:p>
            <a:pPr>
              <a:spcAft>
                <a:spcPts val="1000"/>
              </a:spcAft>
              <a:defRPr sz="1900"/>
            </a:pPr>
            <a:r>
              <a:rPr dirty="0"/>
              <a:t>Path &amp; Files APIs</a:t>
            </a:r>
          </a:p>
          <a:p>
            <a:pPr>
              <a:spcAft>
                <a:spcPts val="1000"/>
              </a:spcAft>
              <a:defRPr sz="1900"/>
            </a:pPr>
            <a:r>
              <a:rPr dirty="0"/>
              <a:t>Read complete files or process line-by-line</a:t>
            </a:r>
          </a:p>
          <a:p>
            <a:pPr>
              <a:spcAft>
                <a:spcPts val="1000"/>
              </a:spcAft>
              <a:defRPr sz="1900"/>
            </a:pPr>
            <a:r>
              <a:rPr lang="en-IN" dirty="0"/>
              <a:t>H</a:t>
            </a:r>
            <a:r>
              <a:rPr dirty="0" err="1"/>
              <a:t>andle</a:t>
            </a:r>
            <a:r>
              <a:rPr dirty="0"/>
              <a:t> missing/malformed records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F014780-B1CB-4D09-4D6D-4D9BE8734C0C}"/>
              </a:ext>
            </a:extLst>
          </p:cNvPr>
          <p:cNvSpPr txBox="1"/>
          <p:nvPr/>
        </p:nvSpPr>
        <p:spPr>
          <a:xfrm>
            <a:off x="5257800" y="1089898"/>
            <a:ext cx="6096000" cy="615553"/>
          </a:xfrm>
          <a:prstGeom prst="rect">
            <a:avLst/>
          </a:prstGeom>
          <a:noFill/>
        </p:spPr>
        <p:txBody>
          <a:bodyPr wrap="square">
            <a:spAutoFit/>
          </a:bodyPr>
          <a:lstStyle/>
          <a:p>
            <a:pPr>
              <a:buNone/>
            </a:pPr>
            <a:endParaRPr/>
          </a:p>
        </p:txBody>
      </p:sp>
      <p:sp>
        <p:nvSpPr>
          <p:cNvPr id="9" name="TextBox 8"/>
          <p:cNvSpPr txBox="1"/>
          <p:nvPr/>
        </p:nvSpPr>
        <p:spPr>
          <a:xfrm>
            <a:off x="731520" y="960120"/>
            <a:ext cx="10789920" cy="640080"/>
          </a:xfrm>
          <a:prstGeom prst="rect">
            <a:avLst/>
          </a:prstGeom>
          <a:noFill/>
        </p:spPr>
        <p:txBody>
          <a:bodyPr wrap="none">
            <a:spAutoFit/>
          </a:bodyPr>
          <a:lstStyle/>
          <a:p>
            <a:r>
              <a:rPr sz="2800" b="1"/>
              <a:t>CO 6: Functional Programming with Collections &amp; Streams</a:t>
            </a:r>
          </a:p>
        </p:txBody>
      </p:sp>
      <p:sp>
        <p:nvSpPr>
          <p:cNvPr id="10" name="TextBox 9"/>
          <p:cNvSpPr txBox="1"/>
          <p:nvPr/>
        </p:nvSpPr>
        <p:spPr>
          <a:xfrm>
            <a:off x="798407" y="2474972"/>
            <a:ext cx="5029200" cy="2067233"/>
          </a:xfrm>
          <a:prstGeom prst="rect">
            <a:avLst/>
          </a:prstGeom>
          <a:noFill/>
        </p:spPr>
        <p:txBody>
          <a:bodyPr wrap="square">
            <a:spAutoFit/>
          </a:bodyPr>
          <a:lstStyle/>
          <a:p>
            <a:pPr>
              <a:spcAft>
                <a:spcPts val="1000"/>
              </a:spcAft>
              <a:defRPr sz="1900"/>
            </a:pPr>
            <a:r>
              <a:rPr dirty="0"/>
              <a:t>Collections Framework</a:t>
            </a:r>
          </a:p>
          <a:p>
            <a:pPr>
              <a:spcAft>
                <a:spcPts val="1000"/>
              </a:spcAft>
              <a:defRPr sz="1900"/>
            </a:pPr>
            <a:r>
              <a:rPr dirty="0"/>
              <a:t>List</a:t>
            </a:r>
          </a:p>
          <a:p>
            <a:pPr>
              <a:spcAft>
                <a:spcPts val="1000"/>
              </a:spcAft>
              <a:defRPr sz="1900"/>
            </a:pPr>
            <a:r>
              <a:rPr dirty="0" err="1"/>
              <a:t>ArrayList</a:t>
            </a:r>
            <a:endParaRPr dirty="0"/>
          </a:p>
          <a:p>
            <a:pPr>
              <a:spcAft>
                <a:spcPts val="1000"/>
              </a:spcAft>
              <a:defRPr sz="1900"/>
            </a:pPr>
            <a:r>
              <a:rPr dirty="0"/>
              <a:t>Generics &amp; type safety</a:t>
            </a:r>
          </a:p>
          <a:p>
            <a:pPr>
              <a:spcAft>
                <a:spcPts val="1000"/>
              </a:spcAft>
              <a:defRPr sz="1900"/>
            </a:pPr>
            <a:r>
              <a:rPr dirty="0"/>
              <a:t>Autoboxing &amp; collection iteration</a:t>
            </a:r>
          </a:p>
        </p:txBody>
      </p:sp>
      <p:sp>
        <p:nvSpPr>
          <p:cNvPr id="11" name="TextBox 10"/>
          <p:cNvSpPr txBox="1"/>
          <p:nvPr/>
        </p:nvSpPr>
        <p:spPr>
          <a:xfrm>
            <a:off x="6126480" y="2474972"/>
            <a:ext cx="5029200" cy="1646605"/>
          </a:xfrm>
          <a:prstGeom prst="rect">
            <a:avLst/>
          </a:prstGeom>
          <a:noFill/>
        </p:spPr>
        <p:txBody>
          <a:bodyPr wrap="square">
            <a:spAutoFit/>
          </a:bodyPr>
          <a:lstStyle/>
          <a:p>
            <a:pPr>
              <a:spcAft>
                <a:spcPts val="1000"/>
              </a:spcAft>
              <a:defRPr sz="1900"/>
            </a:pPr>
            <a:r>
              <a:rPr dirty="0"/>
              <a:t>Lambdas &amp; Stream Pipelines</a:t>
            </a:r>
          </a:p>
          <a:p>
            <a:pPr>
              <a:spcAft>
                <a:spcPts val="1000"/>
              </a:spcAft>
              <a:defRPr sz="1900"/>
            </a:pPr>
            <a:r>
              <a:rPr dirty="0"/>
              <a:t>Predicate</a:t>
            </a:r>
            <a:r>
              <a:rPr lang="en-IN" dirty="0"/>
              <a:t>, </a:t>
            </a:r>
            <a:r>
              <a:rPr dirty="0"/>
              <a:t>Consumer</a:t>
            </a:r>
          </a:p>
          <a:p>
            <a:pPr>
              <a:spcAft>
                <a:spcPts val="1000"/>
              </a:spcAft>
              <a:defRPr sz="1900"/>
            </a:pPr>
            <a:r>
              <a:rPr lang="en-IN" dirty="0"/>
              <a:t>Filter</a:t>
            </a:r>
          </a:p>
          <a:p>
            <a:pPr>
              <a:spcAft>
                <a:spcPts val="1000"/>
              </a:spcAft>
              <a:defRPr sz="1900"/>
            </a:pPr>
            <a:r>
              <a:rPr dirty="0" err="1"/>
              <a:t>forEach</a:t>
            </a:r>
            <a:r>
              <a:rPr dirty="0"/>
              <a:t>, count </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008DC-F8B6-60BF-B1D3-F4F2221EB816}"/>
              </a:ext>
            </a:extLst>
          </p:cNvPr>
          <p:cNvSpPr>
            <a:spLocks noGrp="1"/>
          </p:cNvSpPr>
          <p:nvPr>
            <p:ph type="title"/>
          </p:nvPr>
        </p:nvSpPr>
        <p:spPr>
          <a:xfrm>
            <a:off x="897468" y="695325"/>
            <a:ext cx="10515600" cy="1325563"/>
          </a:xfrm>
        </p:spPr>
        <p:txBody>
          <a:bodyPr/>
          <a:lstStyle/>
          <a:p>
            <a:r>
              <a:rPr lang="en-IN" dirty="0"/>
              <a:t>Conclusion</a:t>
            </a:r>
          </a:p>
        </p:txBody>
      </p:sp>
      <p:sp>
        <p:nvSpPr>
          <p:cNvPr id="3" name="Date Placeholder 2">
            <a:extLst>
              <a:ext uri="{FF2B5EF4-FFF2-40B4-BE49-F238E27FC236}">
                <a16:creationId xmlns:a16="http://schemas.microsoft.com/office/drawing/2014/main" id="{47ADC7EF-EB4B-80DF-32E4-2480177E32DF}"/>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Slide Number Placeholder 3">
            <a:extLst>
              <a:ext uri="{FF2B5EF4-FFF2-40B4-BE49-F238E27FC236}">
                <a16:creationId xmlns:a16="http://schemas.microsoft.com/office/drawing/2014/main" id="{78748A7E-FAD8-CB66-4C64-A5D7F1CC0855}"/>
              </a:ext>
            </a:extLst>
          </p:cNvPr>
          <p:cNvSpPr>
            <a:spLocks noGrp="1"/>
          </p:cNvSpPr>
          <p:nvPr>
            <p:ph type="sldNum" sz="quarter" idx="12"/>
          </p:nvPr>
        </p:nvSpPr>
        <p:spPr/>
        <p:txBody>
          <a:bodyPr/>
          <a:lstStyle/>
          <a:p>
            <a:fld id="{CB012AB6-14AF-4351-87AD-D420B05274E1}" type="slidenum">
              <a:rPr lang="en-IN" smtClean="0"/>
              <a:t>10</a:t>
            </a:fld>
            <a:endParaRPr lang="en-IN"/>
          </a:p>
        </p:txBody>
      </p:sp>
      <p:sp>
        <p:nvSpPr>
          <p:cNvPr id="5" name="TextBox 4">
            <a:extLst>
              <a:ext uri="{FF2B5EF4-FFF2-40B4-BE49-F238E27FC236}">
                <a16:creationId xmlns:a16="http://schemas.microsoft.com/office/drawing/2014/main" id="{608AD154-C910-D6BE-81AA-D9B9CE4B32F6}"/>
              </a:ext>
            </a:extLst>
          </p:cNvPr>
          <p:cNvSpPr txBox="1"/>
          <p:nvPr/>
        </p:nvSpPr>
        <p:spPr>
          <a:xfrm>
            <a:off x="897468" y="2404533"/>
            <a:ext cx="9084732" cy="2308324"/>
          </a:xfrm>
          <a:prstGeom prst="rect">
            <a:avLst/>
          </a:prstGeom>
          <a:noFill/>
        </p:spPr>
        <p:txBody>
          <a:bodyPr wrap="square" rtlCol="0">
            <a:spAutoFit/>
          </a:bodyPr>
          <a:lstStyle/>
          <a:p>
            <a:r>
              <a:rPr lang="en-IN" dirty="0"/>
              <a:t>The Online Auction and Bidding System provides a convenient, efficient, and user-friendly platform for buying and selling products online. By using Java programming concepts such as control flow, methods, arrays, object-oriented programming, exception handling, collections, and file handling, the system simplifies product listing, bid management, and winner declaration. It reduces the limitations of traditional auctions by enabling users to participate from anywhere. In the future, the system can be enhanced with AI-based fraud detection, improved security, and secure online payment integration to make online auctions more reliable, transparent, and efficient.</a:t>
            </a:r>
          </a:p>
        </p:txBody>
      </p:sp>
    </p:spTree>
    <p:extLst>
      <p:ext uri="{BB962C8B-B14F-4D97-AF65-F5344CB8AC3E}">
        <p14:creationId xmlns:p14="http://schemas.microsoft.com/office/powerpoint/2010/main" val="1584947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99477-9716-0F7F-41FA-A3216AA464CB}"/>
              </a:ext>
            </a:extLst>
          </p:cNvPr>
          <p:cNvSpPr>
            <a:spLocks noGrp="1"/>
          </p:cNvSpPr>
          <p:nvPr>
            <p:ph type="title"/>
          </p:nvPr>
        </p:nvSpPr>
        <p:spPr>
          <a:xfrm>
            <a:off x="1185334" y="365125"/>
            <a:ext cx="10515600" cy="1325563"/>
          </a:xfrm>
        </p:spPr>
        <p:txBody>
          <a:bodyPr/>
          <a:lstStyle/>
          <a:p>
            <a:r>
              <a:rPr lang="en-IN" dirty="0"/>
              <a:t>Screenshots</a:t>
            </a:r>
          </a:p>
        </p:txBody>
      </p:sp>
      <p:sp>
        <p:nvSpPr>
          <p:cNvPr id="3" name="Date Placeholder 2">
            <a:extLst>
              <a:ext uri="{FF2B5EF4-FFF2-40B4-BE49-F238E27FC236}">
                <a16:creationId xmlns:a16="http://schemas.microsoft.com/office/drawing/2014/main" id="{95297A22-0BFC-288A-7A36-BB1F0E0DD0E2}"/>
              </a:ext>
            </a:extLst>
          </p:cNvPr>
          <p:cNvSpPr>
            <a:spLocks noGrp="1"/>
          </p:cNvSpPr>
          <p:nvPr>
            <p:ph type="dt" sz="half" idx="10"/>
          </p:nvPr>
        </p:nvSpPr>
        <p:spPr/>
        <p:txBody>
          <a:bodyPr/>
          <a:lstStyle/>
          <a:p>
            <a:fld id="{48F51132-6BA4-40BC-AB03-D6B9C4F193FC}" type="datetime1">
              <a:rPr lang="en-IN" smtClean="0"/>
              <a:t>16-10-2026</a:t>
            </a:fld>
            <a:endParaRPr lang="en-IN"/>
          </a:p>
        </p:txBody>
      </p:sp>
      <p:sp>
        <p:nvSpPr>
          <p:cNvPr id="4" name="Slide Number Placeholder 3">
            <a:extLst>
              <a:ext uri="{FF2B5EF4-FFF2-40B4-BE49-F238E27FC236}">
                <a16:creationId xmlns:a16="http://schemas.microsoft.com/office/drawing/2014/main" id="{94CC4317-217F-8D0B-BCF6-C2A3F99D3B82}"/>
              </a:ext>
            </a:extLst>
          </p:cNvPr>
          <p:cNvSpPr>
            <a:spLocks noGrp="1"/>
          </p:cNvSpPr>
          <p:nvPr>
            <p:ph type="sldNum" sz="quarter" idx="12"/>
          </p:nvPr>
        </p:nvSpPr>
        <p:spPr/>
        <p:txBody>
          <a:bodyPr/>
          <a:lstStyle/>
          <a:p>
            <a:fld id="{CB012AB6-14AF-4351-87AD-D420B05274E1}" type="slidenum">
              <a:rPr lang="en-IN" smtClean="0"/>
              <a:t>11</a:t>
            </a:fld>
            <a:endParaRPr lang="en-IN"/>
          </a:p>
        </p:txBody>
      </p:sp>
      <p:pic>
        <p:nvPicPr>
          <p:cNvPr id="6" name="Picture 5">
            <a:extLst>
              <a:ext uri="{FF2B5EF4-FFF2-40B4-BE49-F238E27FC236}">
                <a16:creationId xmlns:a16="http://schemas.microsoft.com/office/drawing/2014/main" id="{949EE4F3-C44D-37E1-B587-48F8E7D8F869}"/>
              </a:ext>
            </a:extLst>
          </p:cNvPr>
          <p:cNvPicPr>
            <a:picLocks noChangeAspect="1"/>
          </p:cNvPicPr>
          <p:nvPr/>
        </p:nvPicPr>
        <p:blipFill>
          <a:blip r:embed="rId2"/>
          <a:stretch>
            <a:fillRect/>
          </a:stretch>
        </p:blipFill>
        <p:spPr>
          <a:xfrm>
            <a:off x="262467" y="1451721"/>
            <a:ext cx="7625443" cy="2390709"/>
          </a:xfrm>
          <a:prstGeom prst="rect">
            <a:avLst/>
          </a:prstGeom>
        </p:spPr>
      </p:pic>
      <p:pic>
        <p:nvPicPr>
          <p:cNvPr id="8" name="Picture 7">
            <a:extLst>
              <a:ext uri="{FF2B5EF4-FFF2-40B4-BE49-F238E27FC236}">
                <a16:creationId xmlns:a16="http://schemas.microsoft.com/office/drawing/2014/main" id="{477C3A67-EA90-2015-50FB-5C02C381402C}"/>
              </a:ext>
            </a:extLst>
          </p:cNvPr>
          <p:cNvPicPr>
            <a:picLocks noChangeAspect="1"/>
          </p:cNvPicPr>
          <p:nvPr/>
        </p:nvPicPr>
        <p:blipFill>
          <a:blip r:embed="rId3"/>
          <a:stretch>
            <a:fillRect/>
          </a:stretch>
        </p:blipFill>
        <p:spPr>
          <a:xfrm>
            <a:off x="5280652" y="3911601"/>
            <a:ext cx="6259414" cy="2517245"/>
          </a:xfrm>
          <a:prstGeom prst="rect">
            <a:avLst/>
          </a:prstGeom>
        </p:spPr>
      </p:pic>
    </p:spTree>
    <p:extLst>
      <p:ext uri="{BB962C8B-B14F-4D97-AF65-F5344CB8AC3E}">
        <p14:creationId xmlns:p14="http://schemas.microsoft.com/office/powerpoint/2010/main" val="2762805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EF2EB-DC8E-A39F-8C45-4CB81854799A}"/>
              </a:ext>
            </a:extLst>
          </p:cNvPr>
          <p:cNvSpPr>
            <a:spLocks noGrp="1"/>
          </p:cNvSpPr>
          <p:nvPr>
            <p:ph type="title"/>
          </p:nvPr>
        </p:nvSpPr>
        <p:spPr/>
        <p:txBody>
          <a:bodyPr/>
          <a:lstStyle/>
          <a:p>
            <a:r>
              <a:rPr lang="en-IN" dirty="0"/>
              <a:t>Geo Tag Photo and git hub link</a:t>
            </a:r>
          </a:p>
        </p:txBody>
      </p:sp>
      <p:sp>
        <p:nvSpPr>
          <p:cNvPr id="3" name="Content Placeholder 2">
            <a:extLst>
              <a:ext uri="{FF2B5EF4-FFF2-40B4-BE49-F238E27FC236}">
                <a16:creationId xmlns:a16="http://schemas.microsoft.com/office/drawing/2014/main" id="{764E026B-5FC7-651F-1236-75071A9D26C5}"/>
              </a:ext>
            </a:extLst>
          </p:cNvPr>
          <p:cNvSpPr>
            <a:spLocks noGrp="1"/>
          </p:cNvSpPr>
          <p:nvPr>
            <p:ph idx="1"/>
          </p:nvPr>
        </p:nvSpPr>
        <p:spPr/>
        <p:txBody>
          <a:bodyPr/>
          <a:lstStyle/>
          <a:p>
            <a:pPr marL="0" indent="0">
              <a:buNone/>
            </a:pPr>
            <a:r>
              <a:rPr lang="en-IN" dirty="0">
                <a:hlinkClick r:id="rId2"/>
              </a:rPr>
              <a:t>https://github.com/shreyasi38355-jpg</a:t>
            </a:r>
            <a:endParaRPr lang="en-IN" dirty="0"/>
          </a:p>
          <a:p>
            <a:pPr marL="0" indent="0">
              <a:buNone/>
            </a:pPr>
            <a:r>
              <a:rPr lang="en-IN" dirty="0">
                <a:hlinkClick r:id="rId3"/>
              </a:rPr>
              <a:t>https://github.com/harshinimharshinim387-boop</a:t>
            </a:r>
            <a:endParaRPr lang="en-IN" dirty="0"/>
          </a:p>
          <a:p>
            <a:pPr marL="0" indent="0">
              <a:buNone/>
            </a:pPr>
            <a:r>
              <a:rPr lang="en-IN" dirty="0">
                <a:hlinkClick r:id="rId4"/>
              </a:rPr>
              <a:t>https://github.com/nehalinga-2008</a:t>
            </a:r>
            <a:endParaRPr lang="en-IN" dirty="0"/>
          </a:p>
          <a:p>
            <a:pPr marL="0" indent="0">
              <a:buNone/>
            </a:pPr>
            <a:endParaRPr lang="en-IN" dirty="0"/>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r>
              <a:t>10</a:t>
            </a:r>
            <a:endParaRPr lang="en-IN"/>
          </a:p>
        </p:txBody>
      </p:sp>
      <p:pic>
        <p:nvPicPr>
          <p:cNvPr id="7" name="Picture 6">
            <a:extLst>
              <a:ext uri="{FF2B5EF4-FFF2-40B4-BE49-F238E27FC236}">
                <a16:creationId xmlns:a16="http://schemas.microsoft.com/office/drawing/2014/main" id="{42DA9C01-5197-6872-029E-4263CB3DA6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0837" y="3633523"/>
            <a:ext cx="4681125" cy="2633133"/>
          </a:xfrm>
          <a:prstGeom prst="rect">
            <a:avLst/>
          </a:prstGeom>
        </p:spPr>
      </p:pic>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366</TotalTime>
  <Words>875</Words>
  <Application>Microsoft Office PowerPoint</Application>
  <PresentationFormat>Widescreen</PresentationFormat>
  <Paragraphs>114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Online Auction And Bidding System Team no:14</vt:lpstr>
      <vt:lpstr>Abstract</vt:lpstr>
      <vt:lpstr>Understanding Problem Statement</vt:lpstr>
      <vt:lpstr>CO 1: Java Foundations &amp; Problem Solving </vt:lpstr>
      <vt:lpstr>Co 2: Control Flow </vt:lpstr>
      <vt:lpstr>CO 3: Methods, Arrays &amp; Data Organization </vt:lpstr>
      <vt:lpstr>PowerPoint Presentation</vt:lpstr>
      <vt:lpstr>PowerPoint Presentation</vt:lpstr>
      <vt:lpstr>PowerPoint Presentation</vt:lpstr>
      <vt:lpstr>Conclusion</vt:lpstr>
      <vt:lpstr>Screenshots</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Shreyasi Penujuri</cp:lastModifiedBy>
  <cp:revision>17</cp:revision>
  <dcterms:created xsi:type="dcterms:W3CDTF">2026-09-15T09:57:10Z</dcterms:created>
  <dcterms:modified xsi:type="dcterms:W3CDTF">2026-10-16T04:34:44Z</dcterms:modified>
</cp:coreProperties>
</file>